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5EAEFF"/>
                </a:solidFill>
              </a:rPr>
              <a:t>USD/KRW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환율 예측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20440"/>
            <a:ext cx="11274552" cy="2540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8E8"/>
                </a:solidFill>
              </a:rPr>
              <a:t>ARIMAX · LightGBM · LSTM · BiGRU + Ridge 앙상블
멀티스케일 피처(137개) · AWS 자동화 파이프라인 · Streamlit 실시간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6A8A"/>
                </a:solidFill>
              </a:rPr>
              <a:t>데이터마이닝  ·  기말 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E8"/>
                </a:solidFill>
              </a:rPr>
              <a:t>이용재 (2025720228)  ·  성균관대학교 정보통신대학원 빅데이터학과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6A8A"/>
                </a:solidFill>
              </a:rP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연구 배경 및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Why USD/KRW?  |  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212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234440"/>
            <a:ext cx="5788152" cy="5212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EAEFF"/>
                </a:solidFill>
              </a:rPr>
              <a:t>연구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8E8"/>
                </a:solidFill>
              </a:rPr>
              <a:t>▸  USD/KRW는 수출 의존 경제에서 가장 중요한 거시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8E8"/>
                </a:solidFill>
              </a:rPr>
              <a:t>▸  기존 연구는 단일 모델·단일 시간 단위에 한정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8E8"/>
                </a:solidFill>
              </a:rPr>
              <a:t>▸  변동성 레짐 전환 시 예측 오차가 급증하는 구조적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8E8"/>
                </a:solidFill>
              </a:rPr>
              <a:t>▸  실시간 운영 가능한 엔드투엔드 시스템 부재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</a:rPr>
              <a:t>연구 목적 &amp; 기여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D+1 ~ D+22 다중 호라이즌 예측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6712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멀티스케일(일봉·1H·5M·1M) 피처 137개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426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4개 이종 모델 Ridge 앙상블로 오차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1810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Lookahead Bias 완전 차단 (시간 역순 분할)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9359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AWS + Streamlit Cloud 실시간 자동화 파이프라인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6908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Persistence Baseline 대비 통계적 유의성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데이터 수집 &amp; 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14 Tickers · 4 시간 단위 · 137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560320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학습 기간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2015–2026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10년+ 일봉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234440"/>
            <a:ext cx="2560320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34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수집 티커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581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AEFF"/>
                </a:solidFill>
              </a:rPr>
              <a:t>14개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KRW·DXY·VIX·GOLD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2560320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34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멀티스케일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81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</a:rPr>
              <a:t>4 레이어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일·1H·5M·1M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234440"/>
            <a:ext cx="2560320" cy="1143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34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총 피처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581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137개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9개 그룹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1325880" cy="338328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560320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528"/>
                </a:solidFill>
              </a:rPr>
              <a:t>그룹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2514600"/>
            <a:ext cx="2240280" cy="338328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2560320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528"/>
                </a:solidFill>
              </a:rPr>
              <a:t>내용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514600"/>
            <a:ext cx="2697480" cy="338328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560320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528"/>
                </a:solidFill>
              </a:rPr>
              <a:t>대표 피처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52928"/>
            <a:ext cx="13258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889504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G1 추세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2852928"/>
            <a:ext cx="22402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47088" y="2889504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EMA·SMA·MACD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852928"/>
            <a:ext cx="26974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2889504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ema_5, macd_cross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91256"/>
            <a:ext cx="13258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227832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G2 모멘텀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3191256"/>
            <a:ext cx="22402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47088" y="3227832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RSI·Stoch·CCI·ADX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191256"/>
            <a:ext cx="26974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8808" y="3227832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rsi_ob, stoch_sig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29584"/>
            <a:ext cx="13258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3566160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G3 변동성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3529584"/>
            <a:ext cx="22402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47088" y="3566160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BB·ATR·HV·레짐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3529584"/>
            <a:ext cx="26974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8808" y="3566160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bb_pos, vol_regime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867912"/>
            <a:ext cx="13258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3904488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G4 수익률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83080" y="3867912"/>
            <a:ext cx="22402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47088" y="3904488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다구간 리턴+래그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867912"/>
            <a:ext cx="26974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8808" y="3904488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ret_1d~60d, lag_*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206240"/>
            <a:ext cx="13258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" y="4242816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G5 금리차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83080" y="4206240"/>
            <a:ext cx="22402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47088" y="4242816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한미 스프레드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4206240"/>
            <a:ext cx="26974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78808" y="4242816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rate_spread, yield_curve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544568"/>
            <a:ext cx="13258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" y="4581144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G6 크로스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83080" y="4544568"/>
            <a:ext cx="22402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47088" y="4581144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CNY·JPY·TWD 상대강도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4544568"/>
            <a:ext cx="26974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78808" y="4581144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krw_vs_cny, cny_corr_20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882896"/>
            <a:ext cx="13258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" y="4919472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G7 한국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83080" y="4882896"/>
            <a:ext cx="22402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47088" y="4919472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SOX·EEM·WTI(KRW)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4882896"/>
            <a:ext cx="26974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78808" y="4919472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sox_vs_sp, eem_vs_sp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221224"/>
            <a:ext cx="13258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768" y="5257800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G8 멀티스케일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83080" y="5221224"/>
            <a:ext cx="22402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47088" y="5257800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분봉 통계 정규화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5221224"/>
            <a:ext cx="2697480" cy="32004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78808" y="5257800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h1_std_z, ms_vol_ratio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559552"/>
            <a:ext cx="13258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" y="5596128"/>
            <a:ext cx="12618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G9 캘린더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83080" y="5559552"/>
            <a:ext cx="22402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47088" y="5596128"/>
            <a:ext cx="21762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요일·월·지정학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0" y="5559552"/>
            <a:ext cx="2697480" cy="3200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78808" y="5596128"/>
            <a:ext cx="2633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day_of_week, geo_risk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40880" y="2514600"/>
            <a:ext cx="4754880" cy="4114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7804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설계 원칙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05472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Lookahead Bias 완전 차단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5472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  — 모든 피처는 현재 이전 데이터만 사용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5472" y="37124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분봉 → 일봉 집계 (std·range·count)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5472" y="4059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  — 장중 변동성을 일봉에 녹여냄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05472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한국 기준금리 수동 내장 (API 부재)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05472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  — 2015–2026 실제 고시금리 하드코딩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05472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결측치 ffill → bfill → fillna(0)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05472" y="5449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  — 파이프라인 안정성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모델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ARIMAX + LightGBM + LSTM + BiGRU → Ridge 메타 앙상블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06040" cy="43891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60604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528"/>
                </a:solidFill>
              </a:rPr>
              <a:t>ARIMAX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556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pmdarima auto_arima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762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외생변수 6개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9689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(rate_spread, DXY, WTI,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VIX, krw_cny, yield)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381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log_return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858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234440"/>
            <a:ext cx="2606040" cy="43891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1234440"/>
            <a:ext cx="2606040" cy="43891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12984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528"/>
                </a:solidFill>
              </a:rPr>
              <a:t>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17556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n_estimators=3,000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1762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learning_rate=0.02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259689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num_leaves=63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Early stopping(100)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4381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D+1~D+22 전 호라이즌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858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가장 빠른 추론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234440"/>
            <a:ext cx="2606040" cy="43891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234440"/>
            <a:ext cx="260604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2984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528"/>
                </a:solidFill>
              </a:rPr>
              <a:t>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17556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30일 슬라이딩 윈도우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21762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128→64→32 유닛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259689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Dropout 0.20/0.15/0.10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Huber Loss(δ=0.01)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34381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Adam(lr=1e-3, clipnorm=1)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3858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234440"/>
            <a:ext cx="2606040" cy="43891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3960" y="1234440"/>
            <a:ext cx="2606040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12984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528"/>
                </a:solidFill>
              </a:rPr>
              <a:t>BiGRU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3688" y="17556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양방향 GRU 64→32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3688" y="21762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Dropout 0.20/0.10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59689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EarlyStopping(15)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0175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ReduceLROnPlateau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34381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Sharpe 향상 기여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3688" y="3858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D+1 전용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760720"/>
            <a:ext cx="10835640" cy="8229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806440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4D399"/>
                </a:solidFill>
              </a:rPr>
              <a:t>↓  Ridge 메타 앙상블 (α=0.1)  →  최종 예측 (D+1)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153912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E8"/>
                </a:solidFill>
              </a:rPr>
              <a:t>단순 결합이 아닌 정규화 회귀로 과적합 방지 · 4모델 가중합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학습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시계열 분할 · Lookahead Bias 차단 · 평가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AEFF"/>
                </a:solidFill>
              </a:rPr>
              <a:t>시계열 분할 (70 / 15 / 15)  —  미래 데이터 사용 완전 차단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7712963" cy="64008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15883" y="1719072"/>
            <a:ext cx="165277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68662" y="1719072"/>
            <a:ext cx="1652778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92224"/>
            <a:ext cx="749259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528"/>
                </a:solidFill>
              </a:rPr>
              <a:t>Train  70%
2015.01 – 2023.07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603" y="1792224"/>
            <a:ext cx="14324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528"/>
                </a:solidFill>
              </a:rPr>
              <a:t>Val  15%
2023.07 – 2024.06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4382" y="1792224"/>
            <a:ext cx="14324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528"/>
                </a:solidFill>
              </a:rPr>
              <a:t>Test  15%
2024.06 – 현재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80"/>
            <a:ext cx="3657600" cy="39319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97480"/>
            <a:ext cx="3657600" cy="384048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평가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54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RMSE  — 절대 오차 크기 (원화)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547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MAE   — 평균 절대 오차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41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MAPE  — 상대 오차율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DA    — 방향 정확도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727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Sharpe — 리스크 조정 수익률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DA_p  — 이항검정 p-value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697480"/>
            <a:ext cx="3657600" cy="39319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2697480"/>
            <a:ext cx="365760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743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Lookahead Bias 차단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154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Train에만 RobustScaler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547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Val/Test는 transform만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941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타겟: log(P_{t+h}/P_t) 형태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CLIP_BOUNDS로 이상 예측 억제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727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피처: 현재 이전 데이터만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미래 정보 0% 보장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697480"/>
            <a:ext cx="3657600" cy="39319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2697480"/>
            <a:ext cx="36576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743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한계 &amp; 계획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154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현재: 단순 분할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3547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Walk-Forward Val 미적용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3941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</a:rPr>
              <a:t>→ 적용 시 성능 변동 가능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3342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VIF 다중공선성 진단 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727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레짐별 앙상블 가설(H3) 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기말까지 Walk-Forward 완료 목표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실험 결과 — 성능 비교 (Validation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단순 분할 기준 · Walk-Forward 미적용 · Persistence Baseline 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256032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1673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261872"/>
            <a:ext cx="118872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13167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RMSE(↓)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61872"/>
            <a:ext cx="118872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3167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MAE(↓)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3248" y="1261872"/>
            <a:ext cx="118872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13167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MAPE%(↓)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38544" y="1261872"/>
            <a:ext cx="105156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1316736"/>
            <a:ext cx="978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DA%(↑)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1261872"/>
            <a:ext cx="123444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316736"/>
            <a:ext cx="1161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DA_p&lt;0.05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261872"/>
            <a:ext cx="1188720" cy="420624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316736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528"/>
                </a:solidFill>
              </a:rPr>
              <a:t>Sharpe(↑)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682496"/>
            <a:ext cx="25603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62656" y="1682496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2" y="1682496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248" y="1682496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38544" y="1682496"/>
            <a:ext cx="105156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80" y="1682496"/>
            <a:ext cx="123444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7696" y="1682496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46504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6A8A"/>
                </a:solidFill>
              </a:rPr>
              <a:t>Persistence (Baseline)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8376" y="174650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8.831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672" y="174650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6.654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174650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0.505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1746504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49.0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746504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6" y="174650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0.608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103120"/>
            <a:ext cx="25603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62656" y="2103120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87952" y="2103120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13248" y="2103120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38544" y="2103120"/>
            <a:ext cx="105156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6680" y="2103120"/>
            <a:ext cx="123444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97696" y="2103120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167128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E8"/>
                </a:solidFill>
              </a:rPr>
              <a:t>ARIMAX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08376" y="2167128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8.454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3672" y="2167128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6.379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8968" y="2167128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0.484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4264" y="2167128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47.5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2167128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2167128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0.617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2523744"/>
            <a:ext cx="25603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62656" y="2523744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7952" y="2523744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13248" y="2523744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38544" y="2523744"/>
            <a:ext cx="105156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26680" y="2523744"/>
            <a:ext cx="123444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97696" y="2523744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2587752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EAEFF"/>
                </a:solidFill>
              </a:rPr>
              <a:t>LightGBM D+1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08376" y="2587752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7.850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33672" y="2587752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5.874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58968" y="2587752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0.446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4264" y="2587752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57.3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2587752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</a:rPr>
              <a:t>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3416" y="2587752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2944368"/>
            <a:ext cx="25603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62656" y="2944368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87952" y="2944368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13248" y="2944368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38544" y="2944368"/>
            <a:ext cx="105156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26680" y="2944368"/>
            <a:ext cx="123444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97696" y="2944368"/>
            <a:ext cx="1188720" cy="393192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3008376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E8"/>
                </a:solidFill>
              </a:rPr>
              <a:t>LSTM D+1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08376" y="3008376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9.256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33672" y="3008376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6.962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58968" y="3008376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0.526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84264" y="3008376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48.5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0" y="3008376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43416" y="3008376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0.348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3364992"/>
            <a:ext cx="25603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62656" y="3364992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87952" y="3364992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13248" y="3364992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38544" y="3364992"/>
            <a:ext cx="105156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26680" y="3364992"/>
            <a:ext cx="123444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97696" y="3364992"/>
            <a:ext cx="1188720" cy="3931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3429000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87171"/>
                </a:solidFill>
              </a:rPr>
              <a:t>BiGRU D+1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8376" y="3429000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29.55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33672" y="3429000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27.20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58968" y="3429000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2.060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84264" y="3429000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48.8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3429000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43416" y="3429000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0.268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3785616"/>
            <a:ext cx="256032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62656" y="3785616"/>
            <a:ext cx="118872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87952" y="3785616"/>
            <a:ext cx="118872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13248" y="3785616"/>
            <a:ext cx="118872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38544" y="3785616"/>
            <a:ext cx="105156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26680" y="3785616"/>
            <a:ext cx="123444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997696" y="3785616"/>
            <a:ext cx="1188720" cy="393192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3849624"/>
            <a:ext cx="24871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★ Ridge 앙상블 (4모델)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08376" y="384962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7.453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33672" y="384962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5.812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58968" y="384962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0.441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84264" y="3849624"/>
            <a:ext cx="97840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48.5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72400" y="3849624"/>
            <a:ext cx="11612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43416" y="3849624"/>
            <a:ext cx="111556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0.367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0600"/>
            <a:ext cx="11338560" cy="1783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4864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주요 인사이트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519379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8"/>
                </a:solidFill>
              </a:rPr>
              <a:t>▸  LGB RMSE 7.85원으로 단일 모델 중 최고 — 하지만 DA p-value 미검증 시 과대평가 위험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" y="55321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8"/>
                </a:solidFill>
              </a:rPr>
              <a:t>▸  앙상블이 RMSE 7.45원으로 LGB 대비 5% 개선 — Sharpe 0.367로 LSTM(0.348) 상회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587044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8"/>
                </a:solidFill>
              </a:rPr>
              <a:t>▸  BiGRU는 RMSE 29.5원으로 불안정 — 앙상블 내 가중치 낮게 할당됨 (Ridge α=0.1 효과)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2920" y="620877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8"/>
                </a:solidFill>
              </a:rPr>
              <a:t>▸  DA_p(이항검정) 추가로 '50% 동전던지기 대비 통계적 우위'를 정량 근거로 제시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다중 호라이즌 예측 결과 (LightGBM)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D+1 ~ D+22 · Val Set 성능 · 예측 예시 (2026-04-24 기준)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029200" cy="5349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AEFF"/>
                </a:solidFill>
              </a:rPr>
              <a:t>호라이즌별 RMSE &amp; 방향 정확도 (Validation)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D+ 1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773936"/>
            <a:ext cx="633356" cy="25603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17922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B1528"/>
                </a:solidFill>
              </a:rPr>
              <a:t>RMSE 7.8원 | DA 57.3%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D+ 3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249424"/>
            <a:ext cx="1123098" cy="25603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2677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B1528"/>
                </a:solidFill>
              </a:rPr>
              <a:t>RMSE 13.9원 | DA 49.8%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D+ 5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724912"/>
            <a:ext cx="1366759" cy="25603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27432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B1528"/>
                </a:solidFill>
              </a:rPr>
              <a:t>RMSE 16.9원 | DA 49.5%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638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D+10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200400"/>
            <a:ext cx="1811318" cy="25603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21868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B1528"/>
                </a:solidFill>
              </a:rPr>
              <a:t>RMSE 22.4원 | DA 47.0%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39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</a:rPr>
              <a:t>D+22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675888"/>
            <a:ext cx="2686722" cy="256032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36941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B1528"/>
                </a:solidFill>
              </a:rPr>
              <a:t>RMSE 33.3원 | DA 47.5%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A8A"/>
                </a:solidFill>
              </a:rPr>
              <a:t>※ 호라이즌 증가 → RMSE 급증 / DA는 47~57% 수렴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234440"/>
            <a:ext cx="6126480" cy="5349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2984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앙상블 예측 예시  (기준: 2026-04-24, 현재가 1477.96원)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719072"/>
            <a:ext cx="59436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17922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792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1,478.4원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792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+0.03%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7922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상승 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1396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A8A"/>
                </a:solidFill>
              </a:rPr>
              <a:t>LGB/ARIMAX/LSTM/BiGRU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569464"/>
            <a:ext cx="59436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6426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6426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1,479.4원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426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+0.10%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6426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상승 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2990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A8A"/>
                </a:solidFill>
              </a:rPr>
              <a:t>LGB 단독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419856"/>
            <a:ext cx="59436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49300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493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1,479.7원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+0.12%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4930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상승 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840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A8A"/>
                </a:solidFill>
              </a:rPr>
              <a:t>LGB 단독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270248"/>
            <a:ext cx="59436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43434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343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1,478.7원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343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+0.05%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343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상승 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A8A"/>
                </a:solidFill>
              </a:rPr>
              <a:t>LGB 단독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5120640"/>
            <a:ext cx="59436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51937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1937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1,479.3원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1937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+0.09%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193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상승 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5541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A8A"/>
                </a:solidFill>
              </a:rPr>
              <a:t>LGB 단독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Ablation Study &amp; 통계적 유의성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교수 피드백 반영 — Baseline 비교 + 이항검정 p-value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53949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AEFF"/>
                </a:solidFill>
              </a:rPr>
              <a:t>D+1 Ablation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150876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746504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1691640"/>
            <a:ext cx="86868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1746504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RMSE(↓)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1691640"/>
            <a:ext cx="77724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746504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DA%(↑)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8456" y="1691640"/>
            <a:ext cx="82296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174650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Sharpe(↑)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1691640"/>
            <a:ext cx="137160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1746504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</a:rPr>
              <a:t>특이사항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093976"/>
            <a:ext cx="15087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148840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6A8A"/>
                </a:solidFill>
              </a:rPr>
              <a:t>Persistence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47672" y="2093976"/>
            <a:ext cx="86868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4248" y="2148840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8.831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3784" y="2093976"/>
            <a:ext cx="77724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14884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49.0%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8456" y="2093976"/>
            <a:ext cx="8229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2148840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0.608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2093976"/>
            <a:ext cx="137160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2148840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478024"/>
            <a:ext cx="150876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2532888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ARIMAX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2478024"/>
            <a:ext cx="86868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84248" y="2532888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8.454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43784" y="2478024"/>
            <a:ext cx="77724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2532888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47.5%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48456" y="2478024"/>
            <a:ext cx="82296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2532888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0.617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98848" y="2478024"/>
            <a:ext cx="137160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4" y="2532888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약한 개선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862072"/>
            <a:ext cx="15087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" y="291693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8E8"/>
                </a:solidFill>
              </a:rPr>
              <a:t>LSTM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862072"/>
            <a:ext cx="86868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84248" y="2916936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9.256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43784" y="2862072"/>
            <a:ext cx="77724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2916936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48.5%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48456" y="2862072"/>
            <a:ext cx="8229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85032" y="2916936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0.348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98848" y="2862072"/>
            <a:ext cx="137160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5424" y="2916936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Sharpe 기여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246120"/>
            <a:ext cx="150876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" y="3300984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87171"/>
                </a:solidFill>
              </a:rPr>
              <a:t>BiGRU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3246120"/>
            <a:ext cx="86868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84248" y="3300984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29.55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43784" y="3246120"/>
            <a:ext cx="77724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60" y="3300984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48.8%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48456" y="3246120"/>
            <a:ext cx="82296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85032" y="3300984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0.268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98848" y="3246120"/>
            <a:ext cx="1371600" cy="356616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3300984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불안정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3630168"/>
            <a:ext cx="15087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" y="3685032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AEFF"/>
                </a:solidFill>
              </a:rPr>
              <a:t>LGB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3630168"/>
            <a:ext cx="86868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84248" y="3685032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7.850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43784" y="3630168"/>
            <a:ext cx="77724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3685032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57.3%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48456" y="3630168"/>
            <a:ext cx="82296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85032" y="3685032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98848" y="3630168"/>
            <a:ext cx="1371600" cy="356616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35424" y="3685032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DA 최고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014216"/>
            <a:ext cx="1508760" cy="356616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8056" y="4069080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★앙상블 (4모델)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014216"/>
            <a:ext cx="868680" cy="356616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84248" y="4069080"/>
            <a:ext cx="813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7.453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43784" y="4014216"/>
            <a:ext cx="777240" cy="356616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4069080"/>
            <a:ext cx="722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48.5%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48456" y="4014216"/>
            <a:ext cx="822960" cy="356616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85032" y="4069080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0.367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98848" y="4014216"/>
            <a:ext cx="1371600" cy="356616"/>
          </a:xfrm>
          <a:prstGeom prst="rect">
            <a:avLst/>
          </a:prstGeom>
          <a:solidFill>
            <a:srgbClr val="0A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35424" y="4069080"/>
            <a:ext cx="1316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RMSE 최고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1234440"/>
            <a:ext cx="5532120" cy="53949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이항검정으로 통계적 유의성 검증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AEFF"/>
                </a:solidFill>
              </a:rPr>
              <a:t>검정 설계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6520" y="2075688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H₀ : DA = 50% (동전던지기와 동일)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46520" y="2395728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H₁ : DA &gt; 50% (단측 검정)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6520" y="2715768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검정통계량 : Binomial Test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6520" y="3035808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scipy.stats.binomtest(n_correct, n, p=0.5)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46520" y="3355848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유의수준 : α = 0.05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3813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해석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46520" y="4151376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  p &lt; 0.05 → 동전던지기 대비 유의한 우위 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6520" y="4471416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  p ≥ 0.05 → 우연 범위 내, 결론 보류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6520" y="4791456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51~57% DA는 표본오차 내 일 수 있음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6520" y="5111496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재학습 후 DA_p 컬럼 자동 생성됨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55686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A8A"/>
                </a:solidFill>
              </a:rPr>
              <a:t>향후 계획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5907024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Walk-Forward Validation 적용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6520" y="6227064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  → 이동 창(expanding window) 검증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6547104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레짐별 DA_p 분해 (고변동 vs 저변동)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46520" y="6867144"/>
            <a:ext cx="525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부트스트랩 신뢰구간 추가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실시간 배포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Colab GPU → GitHub → AWS → Streamlit Cloud  |  End-to-End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286000" cy="2286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2860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35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Google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T4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주 1회 수동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outputs/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280160"/>
            <a:ext cx="2286000" cy="2286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280160"/>
            <a:ext cx="2286000" cy="41148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335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783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모델(.pkl/.keras)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194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코드 버전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6060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Actions: s3-sync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0175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UTC 21:30 스케줄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280160"/>
            <a:ext cx="2286000" cy="2286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94960" y="1280160"/>
            <a:ext cx="2286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1335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AWS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783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forecast_today.json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194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residual_data.csv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6060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모델 파일 백업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175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boto3 자동 업로드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1280160"/>
            <a:ext cx="2286000" cy="2286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1280160"/>
            <a:ext cx="228600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335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EC2 / Lambda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783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predict.py 일일실행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194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KST 06:00 cron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6060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잔차 수집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0175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D+1 오차 누적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1280160"/>
            <a:ext cx="1371600" cy="2286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24160" y="1280160"/>
            <a:ext cx="1371600" cy="41148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528"/>
                </a:solidFill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17830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실시간 차트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1945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LGB 추론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2606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성능 대시보드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01752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5분 캐시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→
git push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4648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→
S3 sync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→
cron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→
webhook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749039"/>
            <a:ext cx="11430000" cy="28803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8221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AEFF"/>
                </a:solidFill>
              </a:rPr>
              <a:t>colab_master.ipynb — 8셀 자동화 파이프라인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2793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셀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GitHub Secrets 로드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0128" y="42062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01568" y="42793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8E8"/>
                </a:solidFill>
              </a:rPr>
              <a:t>셀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0208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Drive 마운트 + 레포 클론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42062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54496" y="42793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8E8"/>
                </a:solidFill>
              </a:rPr>
              <a:t>셀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03136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패키지 설치 (requirements_train.txt)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15984" y="42062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7424" y="42793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C8E8"/>
                </a:solidFill>
              </a:rPr>
              <a:t>셀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56064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 pull (최신 코드)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1206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193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셀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train.py or predict.py 자동 판단 실행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0128" y="51206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01568" y="5193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A8A"/>
                </a:solidFill>
              </a:rPr>
              <a:t>셀 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0208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Streamlit 로컬 테스트 (선택)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51206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54496" y="5193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AEFF"/>
                </a:solidFill>
              </a:rPr>
              <a:t>셀 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03136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GitHub push (outputs/ 포함)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15984" y="5120640"/>
            <a:ext cx="2743200" cy="74980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07424" y="5193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셀 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56064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스케줄러 (매일 KST 06:00)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EAEFF"/>
                </a:solidFill>
              </a:rPr>
              <a:t>결론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What We Achieved  · 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49240" cy="5349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달성한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4모델 앙상블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691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ARIMAX+LGB+LSTM+BiGRU+Ridge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RMSE 7.45원 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075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LGB 단독(7.85원) 대비 5% 개선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59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D+1~D+22 다중 호라이즌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597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실서비스 수준의 예측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43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137개 멀티스케일 피처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437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분봉 통계를 일봉에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27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End-to-End 자동화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27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Colab→GitHub→AWS→Streamlit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Lookahead Bias 완전 차단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시간 역순 분할 + 스케일러 분리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95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이항검정 p-value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995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교수 피드백 반영 (DA 유의성)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799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✅ Persistence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3799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8"/>
                </a:solidFill>
              </a:rPr>
              <a:t>기준선 대비 성능 정량 비교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234440"/>
            <a:ext cx="5852160" cy="53492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2984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향후 계획 (기말까지)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691640"/>
            <a:ext cx="5669280" cy="11704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7647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1. Walk-Forward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1031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8"/>
                </a:solidFill>
              </a:rPr>
              <a:t>Expanding window으로 일반화 성능 검증
DA_p가 Walk-Forward에서도 유의한지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953512"/>
            <a:ext cx="5669280" cy="11704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026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2. VIF 다중공선성 진단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3649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8"/>
                </a:solidFill>
              </a:rPr>
              <a:t>137개 피처 상관 구조 분석
|r|&gt;0.8 페어 파악 및 피처 정제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215384"/>
            <a:ext cx="5669280" cy="11704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288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3. 레짐별 앙상블 (H3 가설)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626864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8"/>
                </a:solidFill>
              </a:rPr>
              <a:t>고변동/저변동 레짐 분류 후 별도 모델 적용
레짐별 RMSE 분해 정량 보고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5477256"/>
            <a:ext cx="5669280" cy="117043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5504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4. 잔차 보정 모델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88736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8"/>
                </a:solidFill>
              </a:rPr>
              <a:t>residual_data.csv 누적 후 학습
24h 예측 오차의 패턴 포착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solidFill>
            <a:srgbClr val="5E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A8A"/>
                </a:solidFill>
              </a:rPr>
              <a:t>"이미 구축한 파이프라인의 결과가 얼마나 신뢰할 만한가를 정량적으로 검증하는 데 무게를 두어야 한다."  — 구자환 교수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