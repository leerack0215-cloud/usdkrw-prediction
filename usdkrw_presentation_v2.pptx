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22C55E"/>
                </a:solidFill>
              </a:rPr>
              <a:t>USD/KRW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환율 예측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기말 발표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401568"/>
            <a:ext cx="11365992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ARIMAX · LightGBM · LSTM · BiGRU + Ridge 앙상블
137개 멀티스케일 피처  ·  AWS 자동화  ·  Streamlit 실시간 대시보드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3679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정보통신대학원 빅데이터학과  ·  2025720228  ·  이용재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36792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2C55E"/>
                </a:solidFill>
              </a:rPr>
              <a:t>github.com/leerack0215-cloud/usdkrw-prediction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R E S E A R C H   O V E R V I E W  ·  연 구 개 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연구 개요 &amp; 연구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65992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5992" cy="685800"/>
          </a:xfrm>
          <a:prstGeom prst="rect">
            <a:avLst/>
          </a:prstGeom>
          <a:solidFill>
            <a:srgbClr val="0F1E30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91056"/>
            <a:ext cx="11000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💡  연구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38528"/>
            <a:ext cx="11000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환율 예측에서 멀티스케일 피처(137개) + 4모델 앙상블이 단일 모델보다 통계적으로 우월한가?
그리고 DA(방향 정확도)는 동전던지기(50%) 대비 유의미한가?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31720"/>
            <a:ext cx="3566160" cy="1874519"/>
          </a:xfrm>
          <a:prstGeom prst="rect">
            <a:avLst/>
          </a:prstGeom>
          <a:solidFill>
            <a:srgbClr val="0F1E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📌  배경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USD/KRW는 수출 의존 경제의 핵심 거시변수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272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기존 연구: 단일 모델·단일 시간 단위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변동성 레짐 전환 시 예측 오차 급증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2331720"/>
            <a:ext cx="3566160" cy="1874519"/>
          </a:xfrm>
          <a:prstGeom prst="rect">
            <a:avLst/>
          </a:prstGeom>
          <a:solidFill>
            <a:srgbClr val="0F1E30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4414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💡 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8072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D+1 ~ D+22 다중 호라이즌 예측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31272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4개 이종 모델 Ridge 앙상블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44728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Lookahead Bias 완전 차단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7673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통계적 유의성 검증(이항검정)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7576" y="2331720"/>
            <a:ext cx="3566160" cy="1874519"/>
          </a:xfrm>
          <a:prstGeom prst="rect">
            <a:avLst/>
          </a:prstGeom>
          <a:solidFill>
            <a:srgbClr val="0F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4414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★  중간→기말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8072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중간: LGB 단독 · 단순 분할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31272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기말: 4모델 앙상블 · Ridge 메타러너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344728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   Persistence Baseline 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37673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   이항검정 p-value 도입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343400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C55E"/>
                </a:solidFill>
              </a:rPr>
              <a:t>핵심: 단순 분할 결과 기준 — Walk-Forward Validation 적용 시 수치 변동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D A T A   C O L L E C T I O N  ·  데 이 터   수 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멀티스케일 데이터 &amp; 피처 137개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65992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2011680" cy="804672"/>
          </a:xfrm>
          <a:prstGeom prst="rect">
            <a:avLst/>
          </a:prstGeom>
          <a:solidFill>
            <a:srgbClr val="0F1E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2011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yfinance
14 Tickers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73736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5768" y="1481328"/>
            <a:ext cx="2011680" cy="804672"/>
          </a:xfrm>
          <a:prstGeom prst="rect">
            <a:avLst/>
          </a:prstGeom>
          <a:solidFill>
            <a:srgbClr val="0F1E30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554480"/>
            <a:ext cx="2011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</a:rPr>
              <a:t>일봉+1H
+5M+1M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73736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0056" y="1481328"/>
            <a:ext cx="2011680" cy="804672"/>
          </a:xfrm>
          <a:prstGeom prst="rect">
            <a:avLst/>
          </a:prstGeom>
          <a:solidFill>
            <a:srgbClr val="0F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0056" y="1554480"/>
            <a:ext cx="2011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make_features
137 피처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173736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24344" y="1481328"/>
            <a:ext cx="2011680" cy="804672"/>
          </a:xfrm>
          <a:prstGeom prst="rect">
            <a:avLst/>
          </a:prstGeom>
          <a:solidFill>
            <a:srgbClr val="0F1E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1554480"/>
            <a:ext cx="2011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LGB·LSTM
BiGRU·ARIMAX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6024" y="173736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28632" y="1481328"/>
            <a:ext cx="2011680" cy="804672"/>
          </a:xfrm>
          <a:prstGeom prst="rect">
            <a:avLst/>
          </a:prstGeom>
          <a:solidFill>
            <a:srgbClr val="0F1E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1554480"/>
            <a:ext cx="2011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</a:rPr>
              <a:t>Ridge
앙상블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395728"/>
            <a:ext cx="2606040" cy="1051560"/>
          </a:xfrm>
          <a:prstGeom prst="rect">
            <a:avLst/>
          </a:prstGeom>
          <a:solidFill>
            <a:srgbClr val="0F1E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4871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학습 기간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74320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C55E"/>
                </a:solidFill>
              </a:rPr>
              <a:t>10년+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21868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2015–2026 일봉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2112" y="2395728"/>
            <a:ext cx="2606040" cy="1051560"/>
          </a:xfrm>
          <a:prstGeom prst="rect">
            <a:avLst/>
          </a:prstGeom>
          <a:solidFill>
            <a:srgbClr val="0F1E30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82112" y="24871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수집 티커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274320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D3EE"/>
                </a:solidFill>
              </a:rPr>
              <a:t>14개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321868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KRW·DXY·VIX 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52744" y="2395728"/>
            <a:ext cx="2606040" cy="1051560"/>
          </a:xfrm>
          <a:prstGeom prst="rect">
            <a:avLst/>
          </a:prstGeom>
          <a:solidFill>
            <a:srgbClr val="0F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52744" y="24871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시간 단위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2744" y="274320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9E0B"/>
                </a:solidFill>
              </a:rPr>
              <a:t>4 레이어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2744" y="321868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일·1H·5M·1M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23376" y="2395728"/>
            <a:ext cx="2606040" cy="1051560"/>
          </a:xfrm>
          <a:prstGeom prst="rect">
            <a:avLst/>
          </a:prstGeom>
          <a:solidFill>
            <a:srgbClr val="0F1E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3376" y="24871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총 피처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3376" y="274320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C55E"/>
                </a:solidFill>
              </a:rPr>
              <a:t>137개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3376" y="321868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9개 그룹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566160"/>
            <a:ext cx="1335024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60273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120"/>
                </a:solidFill>
              </a:rPr>
              <a:t>그룹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3566160"/>
            <a:ext cx="2249424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74520" y="360273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120"/>
                </a:solidFill>
              </a:rPr>
              <a:t>내용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3566160"/>
            <a:ext cx="694944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360273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120"/>
                </a:solidFill>
              </a:rPr>
              <a:t>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877056"/>
            <a:ext cx="133502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9136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G1 추세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3877056"/>
            <a:ext cx="224942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74520" y="39136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EMA·SMA·MACD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3877056"/>
            <a:ext cx="69494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391363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16개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169664"/>
            <a:ext cx="133502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2062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G2 모멘텀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0" y="4169664"/>
            <a:ext cx="224942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74520" y="42062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RSI·Stoch·CCI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4169664"/>
            <a:ext cx="69494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42062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11개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462272"/>
            <a:ext cx="133502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4988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G3 변동성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4462272"/>
            <a:ext cx="224942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74520" y="44988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BB·ATR·HV·레짐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4462272"/>
            <a:ext cx="69494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44988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754880"/>
            <a:ext cx="133502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7914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G4 수익률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0" y="4754880"/>
            <a:ext cx="224942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74520" y="47914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다구간 리턴+래그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60520" y="4754880"/>
            <a:ext cx="69494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06240" y="47914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12개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5047488"/>
            <a:ext cx="133502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0840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G5 금리차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5047488"/>
            <a:ext cx="224942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74520" y="50840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한미 스프레드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60520" y="5047488"/>
            <a:ext cx="69494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06240" y="508406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340096"/>
            <a:ext cx="133502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3766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G6 크로스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0" y="5340096"/>
            <a:ext cx="224942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74520" y="53766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CNY·JPY·TWD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60520" y="5340096"/>
            <a:ext cx="69494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06240" y="537667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5632704"/>
            <a:ext cx="133502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6692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G7 한국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5632704"/>
            <a:ext cx="224942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74520" y="56692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SOX·EEM·WTI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60520" y="5632704"/>
            <a:ext cx="69494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06240" y="56692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12개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5925312"/>
            <a:ext cx="133502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5961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G8 멀티스케일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28800" y="5925312"/>
            <a:ext cx="224942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74520" y="59618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분봉 통계 정규화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60520" y="5925312"/>
            <a:ext cx="694944" cy="292608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06240" y="59618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17개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6217920"/>
            <a:ext cx="133502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" y="625449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G9 캘린더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6217920"/>
            <a:ext cx="224942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874520" y="6254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요일·월·지정학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60520" y="6217920"/>
            <a:ext cx="694944" cy="2926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06240" y="62544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6개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20640" y="2331720"/>
            <a:ext cx="6858000" cy="4297680"/>
          </a:xfrm>
          <a:prstGeom prst="rect">
            <a:avLst/>
          </a:prstGeom>
          <a:solidFill>
            <a:srgbClr val="0F1E30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03520" y="24231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🔒  설계 원칙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03520" y="28346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▸  Lookahead Bias 완전 차단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03520" y="312724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   Train에만 RobustScaler fit / Val·Test는 transform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03520" y="349300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▸  멀티스케일 → 일봉 통합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03520" y="378561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   1H·5M·1M 분봉 통계(std·range·count) 집계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03520" y="415137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▸  결측치 안전 처리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03520" y="444398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   ffill → bfill → fillna(0) 3단계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03520" y="480974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▸  이상치 억제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03520" y="510235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   log-return CLIP_BOUNDS 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M O D E L   A R C H I T E C T U R E  ·  모 델   구 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4모델 앙상블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65992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2651760" cy="4206240"/>
          </a:xfrm>
          <a:prstGeom prst="rect">
            <a:avLst/>
          </a:prstGeom>
          <a:solidFill>
            <a:srgbClr val="0F1E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26517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270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120"/>
                </a:solidFill>
              </a:rPr>
              <a:t>ARIMAX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299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pmdarima auto_arima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1401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외생변수 6개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rate_spread · DXY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WTI · VIX · yield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log_return 예측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502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D+1 전용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481328"/>
            <a:ext cx="2651760" cy="4206240"/>
          </a:xfrm>
          <a:prstGeom prst="rect">
            <a:avLst/>
          </a:prstGeom>
          <a:solidFill>
            <a:srgbClr val="0F1E30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481328"/>
            <a:ext cx="265176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15270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120"/>
                </a:solidFill>
              </a:rPr>
              <a:t>LightGBM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0299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n_estimators 3,000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41401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learning_rate 0.02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79806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num_leaves 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1821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Early stopping(100)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566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D+1 ~ D+22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39502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가장 빠른 추론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17336" y="1481328"/>
            <a:ext cx="2651760" cy="4206240"/>
          </a:xfrm>
          <a:prstGeom prst="rect">
            <a:avLst/>
          </a:prstGeom>
          <a:solidFill>
            <a:srgbClr val="0F1E30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17336" y="1481328"/>
            <a:ext cx="265176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17336" y="15270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120"/>
                </a:solidFill>
              </a:rPr>
              <a:t>LSTM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0299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30일 슬라이딩 윈도우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241401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128→64→32 유닛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279806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Dropout 0.20·0.15·0.10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31821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Huber Loss(δ=0.01)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3566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Adam clipnorm=1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39502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D+1 전용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0264" y="1481328"/>
            <a:ext cx="2651760" cy="4206240"/>
          </a:xfrm>
          <a:prstGeom prst="rect">
            <a:avLst/>
          </a:prstGeom>
          <a:solidFill>
            <a:srgbClr val="0F1E3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70264" y="1481328"/>
            <a:ext cx="265176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70264" y="15270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120"/>
                </a:solidFill>
              </a:rPr>
              <a:t>BiGRU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7424" y="20299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양방향 GRU 64→32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241401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Dropout 0.20·0.10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279806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EarlyStopping(15)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424" y="31821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ReduceLROnPlateau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7424" y="3566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Sharpe 향상 기여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07424" y="39502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D+1 전용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760720"/>
            <a:ext cx="11365992" cy="804672"/>
          </a:xfrm>
          <a:prstGeom prst="rect">
            <a:avLst/>
          </a:prstGeom>
          <a:solidFill>
            <a:srgbClr val="132740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833872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↓   Ridge 메타 앙상블 (α = 0.1)   →   최종 예측 D+1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181344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4모델 예측값을 입력 → Ridge 정규화 회귀로 최적 가중합 학습 → 과적합 방지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R E S U L T S  ·  실 험   결 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Ablation Study &amp; 통계적 유의성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65992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828800" cy="4023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53619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120"/>
                </a:solidFill>
              </a:rP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2276856" y="1481328"/>
            <a:ext cx="822960" cy="4023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13432" y="15361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120"/>
                </a:solidFill>
              </a:rPr>
              <a:t>RMSE↓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2" y="1481328"/>
            <a:ext cx="777240" cy="4023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1536192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120"/>
                </a:solidFill>
              </a:rPr>
              <a:t>DA%↑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0208" y="1481328"/>
            <a:ext cx="685800" cy="4023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1536192"/>
            <a:ext cx="685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120"/>
                </a:solidFill>
              </a:rPr>
              <a:t>DA_p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584" y="1481328"/>
            <a:ext cx="868680" cy="4023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536192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120"/>
                </a:solidFill>
              </a:rPr>
              <a:t>Sharpe↑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481328"/>
            <a:ext cx="1234440" cy="4023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1536192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120"/>
                </a:solidFill>
              </a:rPr>
              <a:t>특이사항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901952"/>
            <a:ext cx="182880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1956816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Persistence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76856" y="1901952"/>
            <a:ext cx="82296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3432" y="1956816"/>
            <a:ext cx="768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8.83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36392" y="1901952"/>
            <a:ext cx="77724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72968" y="1956816"/>
            <a:ext cx="722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49.0%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50208" y="1901952"/>
            <a:ext cx="68580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86784" y="1956816"/>
            <a:ext cx="630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72584" y="1901952"/>
            <a:ext cx="86868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1956816"/>
            <a:ext cx="813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0.608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1901952"/>
            <a:ext cx="123444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1956816"/>
            <a:ext cx="11795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기준선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304288"/>
            <a:ext cx="182880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" y="2359152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ARIMAX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76856" y="2304288"/>
            <a:ext cx="82296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13432" y="2359152"/>
            <a:ext cx="768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8.45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6392" y="2304288"/>
            <a:ext cx="77724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72968" y="2359152"/>
            <a:ext cx="722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47.5%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50208" y="2304288"/>
            <a:ext cx="68580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86784" y="2359152"/>
            <a:ext cx="630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72584" y="2304288"/>
            <a:ext cx="86868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2359152"/>
            <a:ext cx="813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−0.095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2304288"/>
            <a:ext cx="123444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14416" y="2359152"/>
            <a:ext cx="11795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선형 시계열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706624"/>
            <a:ext cx="182880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" y="2761488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LSTM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76856" y="2706624"/>
            <a:ext cx="82296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13432" y="2761488"/>
            <a:ext cx="768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9.26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6392" y="2706624"/>
            <a:ext cx="77724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72968" y="2761488"/>
            <a:ext cx="722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48.5%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50208" y="2706624"/>
            <a:ext cx="68580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86784" y="2761488"/>
            <a:ext cx="630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72584" y="2706624"/>
            <a:ext cx="86868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60" y="2761488"/>
            <a:ext cx="813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0.348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2706624"/>
            <a:ext cx="123444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14416" y="2761488"/>
            <a:ext cx="11795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Sharpe 기여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3108960"/>
            <a:ext cx="182880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056" y="3163824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</a:rPr>
              <a:t>BiGRU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76856" y="3108960"/>
            <a:ext cx="82296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13432" y="3163824"/>
            <a:ext cx="768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29.6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36392" y="3108960"/>
            <a:ext cx="77724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72968" y="3163824"/>
            <a:ext cx="722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48.8%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50208" y="3108960"/>
            <a:ext cx="68580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86784" y="3163824"/>
            <a:ext cx="630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72584" y="3108960"/>
            <a:ext cx="86868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09160" y="3163824"/>
            <a:ext cx="813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0.268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77840" y="3108960"/>
            <a:ext cx="1234440" cy="374904"/>
          </a:xfrm>
          <a:prstGeom prst="rect">
            <a:avLst/>
          </a:prstGeom>
          <a:solidFill>
            <a:srgbClr val="13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14416" y="3163824"/>
            <a:ext cx="11795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불안정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511296"/>
            <a:ext cx="182880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8056" y="3566160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LightGBM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76856" y="3511296"/>
            <a:ext cx="82296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13432" y="3566160"/>
            <a:ext cx="768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7.85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36392" y="3511296"/>
            <a:ext cx="77724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72968" y="3566160"/>
            <a:ext cx="722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57.3%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50208" y="3511296"/>
            <a:ext cx="68580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86784" y="3566160"/>
            <a:ext cx="630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72584" y="3511296"/>
            <a:ext cx="86868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09160" y="3566160"/>
            <a:ext cx="813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−0.102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77840" y="3511296"/>
            <a:ext cx="123444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14416" y="3566160"/>
            <a:ext cx="11795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 최고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3913632"/>
            <a:ext cx="1828800" cy="374904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8056" y="3968496"/>
            <a:ext cx="1773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★ 앙상블(4모델)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76856" y="3913632"/>
            <a:ext cx="822960" cy="374904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13432" y="3968496"/>
            <a:ext cx="768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7.45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36392" y="3913632"/>
            <a:ext cx="777240" cy="374904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72968" y="3968496"/>
            <a:ext cx="722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48.5%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50208" y="3913632"/>
            <a:ext cx="685800" cy="374904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86784" y="3968496"/>
            <a:ext cx="6309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72584" y="3913632"/>
            <a:ext cx="868680" cy="374904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09160" y="3968496"/>
            <a:ext cx="8138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0.367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577840" y="3913632"/>
            <a:ext cx="1234440" cy="374904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14416" y="3968496"/>
            <a:ext cx="11795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RMSE 최고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20840" y="1481328"/>
            <a:ext cx="5212080" cy="5120640"/>
          </a:xfrm>
          <a:prstGeom prst="rect">
            <a:avLst/>
          </a:prstGeom>
          <a:solidFill>
            <a:srgbClr val="0F1E30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85432" y="1572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📌  이항검정 (Binomial Test)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85432" y="19659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무엇인가?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85432" y="2286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H₀: DA = 50% (동전던지기와 동일)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85432" y="25877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H₁: DA &gt; 50% (단측 검정)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85432" y="2889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scipy.stats.binomtest 적용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85432" y="330098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왜 필요한가?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85432" y="36210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51~57% DA는 표본오차 범위일 수 있음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85432" y="39227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p &lt; 0.05 이어야 '유의미한 우위' 확인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85432" y="42245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수치 신뢰도 정량 근거 확보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85432" y="46360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결과 &amp; 한계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85432" y="49560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재학습 후 DA_p 자동 생성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85432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Walk-Forward 미적용 — 성능 과대평가 가능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85432" y="5559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기말까지 WFV 적용 예정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1480" y="6528816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C55E"/>
                </a:solidFill>
              </a:rPr>
              <a:t>p &lt; 0.05 (★): 동전던지기 대비 통계적으로 유의한 방향 정확도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K E Y   I N S I G H T S  ·  핵 심   인 사 이 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핵심 인사이트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65992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5440680" cy="1920240"/>
          </a:xfrm>
          <a:prstGeom prst="rect">
            <a:avLst/>
          </a:prstGeom>
          <a:solidFill>
            <a:srgbClr val="0F1E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591056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⚡  앙상블이 RMSE 최소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029968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Ridge 앙상블 7.45원 — 단일 LGB(7.85원) 대비 5% 개선
LSTM의 Sharpe 기여를 흡수해 최적 결합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481328"/>
            <a:ext cx="5440680" cy="1920240"/>
          </a:xfrm>
          <a:prstGeom prst="rect">
            <a:avLst/>
          </a:prstGeom>
          <a:solidFill>
            <a:srgbClr val="0F1E30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591056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</a:rPr>
              <a:t>📊  LGB DA 57%가 최고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2029968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단일 모델 중 방향 정확도 최고 (57.3%)
단, 이항검정 p-value로 유의성 별도 검증 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520440"/>
            <a:ext cx="5440680" cy="1920240"/>
          </a:xfrm>
          <a:prstGeom prst="rect">
            <a:avLst/>
          </a:prstGeom>
          <a:solidFill>
            <a:srgbClr val="0F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63016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🔗  멀티스케일 피처 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069080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분봉(1H·5M·1M) 통계를 일봉에 통합한 137개 피처
장중 변동성 정보가 일봉 예측에 실질 기여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3520440"/>
            <a:ext cx="5440680" cy="1920240"/>
          </a:xfrm>
          <a:prstGeom prst="rect">
            <a:avLst/>
          </a:prstGeom>
          <a:solidFill>
            <a:srgbClr val="0F1E3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363016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🛡  Persistence 비교 필수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4069080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Persistence(기준선) RMSE 8.83원 → 앙상블 7.45원
기준선 대비 15.6% 개선을 정량적으로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577840"/>
            <a:ext cx="11365992" cy="804672"/>
          </a:xfrm>
          <a:prstGeom prst="rect">
            <a:avLst/>
          </a:prstGeom>
          <a:solidFill>
            <a:srgbClr val="132740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69280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핵심 결론: 멀티스케일 피처 + 4모델 앙상블로 Persistence baseline 대비 15.6% RMSE 개선 — 단, Walk-Forward Validation으로 일반화 성능 추가 검증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D E P L O Y M E N T  ·  배 포   아 키 텍 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실시간 배포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65992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36192"/>
            <a:ext cx="2057400" cy="2103120"/>
          </a:xfrm>
          <a:prstGeom prst="rect">
            <a:avLst/>
          </a:prstGeom>
          <a:solidFill>
            <a:srgbClr val="0F1E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Google
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8928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T4 GPU
train.py
주 1회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134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536192"/>
            <a:ext cx="2057400" cy="2103120"/>
          </a:xfrm>
          <a:prstGeom prst="rect">
            <a:avLst/>
          </a:prstGeom>
          <a:solidFill>
            <a:srgbClr val="0F1E30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627632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</a:rPr>
              <a:t>GitHub
(main)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194560"/>
            <a:ext cx="18928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모델 파일
코드 관리
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3134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46904" y="1536192"/>
            <a:ext cx="2057400" cy="2103120"/>
          </a:xfrm>
          <a:prstGeom prst="rect">
            <a:avLst/>
          </a:prstGeom>
          <a:solidFill>
            <a:srgbClr val="0F1E30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46904" y="1627632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D3EE"/>
                </a:solidFill>
              </a:rPr>
              <a:t>AWS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194560"/>
            <a:ext cx="18928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forecast.json
residual.csv
백업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23134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14616" y="1536192"/>
            <a:ext cx="2057400" cy="2103120"/>
          </a:xfrm>
          <a:prstGeom prst="rect">
            <a:avLst/>
          </a:prstGeom>
          <a:solidFill>
            <a:srgbClr val="0F1E3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1627632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78BFA"/>
                </a:solidFill>
              </a:rPr>
              <a:t>EC2/Lambda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2194560"/>
            <a:ext cx="18928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KST 06:00
predict.py
잔차수집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23134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82328" y="1536192"/>
            <a:ext cx="2057400" cy="2103120"/>
          </a:xfrm>
          <a:prstGeom prst="rect">
            <a:avLst/>
          </a:prstGeom>
          <a:solidFill>
            <a:srgbClr val="0F1E30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1627632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F4444"/>
                </a:solidFill>
              </a:rPr>
              <a:t>Streamlit
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194560"/>
            <a:ext cx="18928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실시간 차트
LGB 추론
5분 캐시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822191"/>
            <a:ext cx="11365992" cy="2743200"/>
          </a:xfrm>
          <a:prstGeom prst="rect">
            <a:avLst/>
          </a:prstGeom>
          <a:solidFill>
            <a:srgbClr val="0F1E30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136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colab_master.ipynb — 8셀 자동화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15968"/>
            <a:ext cx="13716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43708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셀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4645152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GitHub Secrets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84248" y="4315968"/>
            <a:ext cx="13716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43708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셀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645152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Drive + 클론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65576" y="4315968"/>
            <a:ext cx="13716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8728" y="43708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셀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8728" y="4645152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패키지 설치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46904" y="4315968"/>
            <a:ext cx="13716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0056" y="43708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셀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0056" y="4645152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git pull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074920"/>
            <a:ext cx="13716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51297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셀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5404104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train/predict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84248" y="5074920"/>
            <a:ext cx="13716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51297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셀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404104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로컬 테스트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65576" y="5074920"/>
            <a:ext cx="13716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38728" y="51297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셀 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38728" y="5404104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git push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46904" y="5074920"/>
            <a:ext cx="13716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0056" y="51297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셀 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0056" y="5404104"/>
            <a:ext cx="1243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KST 06:00 자동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822191"/>
            <a:ext cx="5577840" cy="2743200"/>
          </a:xfrm>
          <a:prstGeom prst="rect">
            <a:avLst/>
          </a:prstGeom>
          <a:solidFill>
            <a:srgbClr val="0F1E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9136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Streamlit 대시보드 기능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3434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▸  TAB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3434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실시간 환율 차트 + 5분 자동 갱신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72744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▸  TAB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472744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D+1~D+22 예측 (LGB 실시간 추론)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511149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▸  TAB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511149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성능 비교 + Baseline + 유의성 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549554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▸  TAB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60920" y="549554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거시지표 (VIX·DXY·WTI·금리차)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C O N C L U S I O N  ·  결 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결론 &amp; 향후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11365992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5440680" cy="5120640"/>
          </a:xfrm>
          <a:prstGeom prst="rect">
            <a:avLst/>
          </a:prstGeom>
          <a:solidFill>
            <a:srgbClr val="0F1E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✅  달성한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▸  RMSE 7.45원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9339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Persistence(8.83원) 대비 15.6%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▸  4모델 앙상블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77440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ARIMAX+LGB+LSTM+BiGRU → Ridge 최적 결합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▸  137개 멀티스케일 피처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61488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분봉 통계를 일봉에 통합 (9개 그룹)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455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▸  이항검정 도입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45536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DA_p — 교수 피드백 반영 유의성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958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▸  Persistence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29584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기준선 대비 정량 비교 체계 확립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13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▸  End-to-End 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13632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Colab → GitHub → AWS → 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▸  Lookahead Bias 차단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2971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시간 역순 분할 + Train 전용 스케일러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481328"/>
            <a:ext cx="5760720" cy="5120640"/>
          </a:xfrm>
          <a:prstGeom prst="rect">
            <a:avLst/>
          </a:prstGeom>
          <a:solidFill>
            <a:srgbClr val="0F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572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🎯  향후 계획 (기말까지)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993392"/>
            <a:ext cx="5577840" cy="1115568"/>
          </a:xfrm>
          <a:prstGeom prst="rect">
            <a:avLst/>
          </a:prstGeom>
          <a:solidFill>
            <a:srgbClr val="1327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0848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1.  Walk-Forward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45059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Expanding window 기반 이동 검증
DA_p가 WFV에서도 유의한지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227832"/>
            <a:ext cx="5577840" cy="1115568"/>
          </a:xfrm>
          <a:prstGeom prst="rect">
            <a:avLst/>
          </a:prstGeom>
          <a:solidFill>
            <a:srgbClr val="132740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319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2.  VIF 다중공선성 진단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68503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137개 피처 |r|&gt;0.8 페어 분석
노이즈 피처 정제로 모델 성능 개선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462272"/>
            <a:ext cx="5577840" cy="1115568"/>
          </a:xfrm>
          <a:prstGeom prst="rect">
            <a:avLst/>
          </a:prstGeom>
          <a:solidFill>
            <a:srgbClr val="1327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553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3.  레짐별 앙상블 (H3 가설)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9194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고변동/저변동 레짐 분리 후 별도 모델
레짐별 RMSE 분해 정량 보고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696712"/>
            <a:ext cx="5577840" cy="1115568"/>
          </a:xfrm>
          <a:prstGeom prst="rect">
            <a:avLst/>
          </a:prstGeom>
          <a:solidFill>
            <a:srgbClr val="13274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7881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4.  잔차 보정 모델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615391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residual_data.csv 30일 누적 후 학습
24h 예측 오차의 반복 패턴 포착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492240"/>
            <a:ext cx="11365992" cy="256032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"이미 구축한 파이프라인의 결과가 얼마나 신뢰할 만한가를 정량적으로 검증하는 데 무게를 두어야 한다."  — 구자환 교수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